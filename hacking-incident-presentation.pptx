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62"/>
    <p:restoredTop sz="94645"/>
  </p:normalViewPr>
  <p:slideViewPr>
    <p:cSldViewPr snapToGrid="0">
      <p:cViewPr varScale="1">
        <p:scale>
          <a:sx n="69" d="100"/>
          <a:sy n="69" d="100"/>
        </p:scale>
        <p:origin x="232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08F39-2A7B-534E-B759-7569AB90CB52}" type="datetimeFigureOut">
              <a:rPr lang="en-US" smtClean="0"/>
              <a:t>4/29/25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DF9873-A733-DE40-85B1-D5F186B18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56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DF9873-A733-DE40-85B1-D5F186B186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96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761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04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82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17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22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838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74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67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758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56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95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44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Green Lock In A 3D Electronic System">
            <a:extLst>
              <a:ext uri="{FF2B5EF4-FFF2-40B4-BE49-F238E27FC236}">
                <a16:creationId xmlns:a16="http://schemas.microsoft.com/office/drawing/2014/main" id="{3F6B0BA5-0BEE-0CDD-D6AB-105D9DC1E3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r="-1" b="28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237318"/>
            <a:ext cx="12188952" cy="2620682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A85521-D30E-2E63-7DF1-153E1DA08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523" y="1242635"/>
            <a:ext cx="10696574" cy="563562"/>
          </a:xfrm>
        </p:spPr>
        <p:txBody>
          <a:bodyPr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400" dirty="0">
                <a:solidFill>
                  <a:srgbClr val="FFFFFF"/>
                </a:solidFill>
                <a:latin typeface="ACADEMY ENGRAVED LET PLAIN:1.0" panose="02000000000000000000" pitchFamily="2" charset="0"/>
              </a:rPr>
              <a:t>M&amp;S Cyberattack &amp; Website Security Strategies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6B4490-A4A8-919D-4AF1-E0C20F1FB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681" y="4392705"/>
            <a:ext cx="5795251" cy="1063813"/>
          </a:xfrm>
        </p:spPr>
        <p:txBody>
          <a:bodyPr anchor="b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  <a:latin typeface="ACADEMY ENGRAVED LET PLAIN:1.0" panose="02000000000000000000" pitchFamily="2" charset="0"/>
              </a:rPr>
              <a:t>Analyzing the 2025 M&amp;S Cyberattack and Proactive Security Measures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F71A4-A92F-7F4D-7752-517238FB4EDC}"/>
              </a:ext>
            </a:extLst>
          </p:cNvPr>
          <p:cNvSpPr txBox="1"/>
          <p:nvPr/>
        </p:nvSpPr>
        <p:spPr>
          <a:xfrm>
            <a:off x="419100" y="5735637"/>
            <a:ext cx="1527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Dhiya</a:t>
            </a:r>
            <a:r>
              <a:rPr lang="en-US" dirty="0"/>
              <a:t> Kassim</a:t>
            </a:r>
          </a:p>
        </p:txBody>
      </p:sp>
    </p:spTree>
    <p:extLst>
      <p:ext uri="{BB962C8B-B14F-4D97-AF65-F5344CB8AC3E}">
        <p14:creationId xmlns:p14="http://schemas.microsoft.com/office/powerpoint/2010/main" val="3588358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A4A92-77DF-8209-6904-5890FB2AF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A0392C-5E07-4D7E-B36F-6BA35C12C9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53" r="47597"/>
          <a:stretch/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34EF1-44BE-3EEB-49BA-250266274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r>
              <a:rPr lang="en-US" b="1" dirty="0"/>
              <a:t>Overview: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Significance of cybersecurity in today's digital landscape.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Brief introduction to the M&amp;S cyberattack incident.</a:t>
            </a:r>
          </a:p>
        </p:txBody>
      </p:sp>
    </p:spTree>
    <p:extLst>
      <p:ext uri="{BB962C8B-B14F-4D97-AF65-F5344CB8AC3E}">
        <p14:creationId xmlns:p14="http://schemas.microsoft.com/office/powerpoint/2010/main" val="484155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35644-837B-3CDA-D802-90D93A24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r>
              <a:rPr lang="en-US" dirty="0"/>
              <a:t>Incident Overview</a:t>
            </a:r>
          </a:p>
        </p:txBody>
      </p:sp>
      <p:pic>
        <p:nvPicPr>
          <p:cNvPr id="5" name="Picture 4" descr="Lines and dots connected representing a network">
            <a:extLst>
              <a:ext uri="{FF2B5EF4-FFF2-40B4-BE49-F238E27FC236}">
                <a16:creationId xmlns:a16="http://schemas.microsoft.com/office/drawing/2014/main" id="{CFA071EA-B36A-6C5C-0F82-7FA4E03DFB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55" r="29495"/>
          <a:stretch/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620C6-217E-1393-4FE1-0F125BED9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r>
              <a:rPr lang="en-US" b="1" dirty="0"/>
              <a:t>Event Summary: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April 2025, Marks &amp; Spencer (M&amp;S) suffered a significant cyberattack.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Attributed to the hacking group Scattered Spider, known for targeting major corporations.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Attack led to the suspension of online sales and operational disruptions.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Estimated financial impact included a £500 million drop in market value</a:t>
            </a:r>
          </a:p>
        </p:txBody>
      </p:sp>
    </p:spTree>
    <p:extLst>
      <p:ext uri="{BB962C8B-B14F-4D97-AF65-F5344CB8AC3E}">
        <p14:creationId xmlns:p14="http://schemas.microsoft.com/office/powerpoint/2010/main" val="326514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28D68-913D-5346-AE30-C901E200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r>
              <a:rPr lang="en-US" dirty="0"/>
              <a:t>Attack Methodology</a:t>
            </a:r>
          </a:p>
        </p:txBody>
      </p:sp>
      <p:pic>
        <p:nvPicPr>
          <p:cNvPr id="14" name="Picture 13" descr="Abstract background">
            <a:extLst>
              <a:ext uri="{FF2B5EF4-FFF2-40B4-BE49-F238E27FC236}">
                <a16:creationId xmlns:a16="http://schemas.microsoft.com/office/drawing/2014/main" id="{6CBA672C-4E7D-ADFD-CF5D-4E566EB10B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377" r="9824"/>
          <a:stretch/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D7C15-4885-1696-E4C9-BBED209D4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r>
              <a:rPr lang="en-US" b="1" dirty="0"/>
              <a:t>Tactics Used: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Utilization of ransomware to encrypt critical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Possible initial access through a third-party service provider.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Deployment of malware from the </a:t>
            </a:r>
            <a:r>
              <a:rPr lang="en-US" dirty="0" err="1"/>
              <a:t>DragonForce</a:t>
            </a:r>
            <a:r>
              <a:rPr lang="en-US" dirty="0"/>
              <a:t> operator.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Exfiltration of sensitive data, including user credentials.</a:t>
            </a:r>
          </a:p>
        </p:txBody>
      </p:sp>
    </p:spTree>
    <p:extLst>
      <p:ext uri="{BB962C8B-B14F-4D97-AF65-F5344CB8AC3E}">
        <p14:creationId xmlns:p14="http://schemas.microsoft.com/office/powerpoint/2010/main" val="1905743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2C7DB3-982B-EDA0-F6B7-1E4C7DB68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r>
              <a:rPr lang="en-US" dirty="0"/>
              <a:t>Impact Assessment</a:t>
            </a:r>
          </a:p>
        </p:txBody>
      </p:sp>
      <p:pic>
        <p:nvPicPr>
          <p:cNvPr id="5" name="Picture 4" descr="Analog board showing flight information">
            <a:extLst>
              <a:ext uri="{FF2B5EF4-FFF2-40B4-BE49-F238E27FC236}">
                <a16:creationId xmlns:a16="http://schemas.microsoft.com/office/drawing/2014/main" id="{75C0D2C3-EBAB-B82D-4CFD-8162689765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08" r="29802" b="-2"/>
          <a:stretch/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4D36C-E4C0-4024-AD2D-FC235A121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r>
              <a:rPr lang="en-US" b="1" dirty="0"/>
              <a:t>Consequences: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Five days of suspended online sales, averaging £3.8 million per day.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Disruption of services, including non-functioning gift card systems and restricted return options.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Erosion of customer trust and brand reputation.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Highlighting the vulnerabilities in supply chain and third-party integrations.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119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52C0F-DB56-9F19-4F47-DD3B7E468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5712"/>
            <a:ext cx="4218435" cy="2390687"/>
          </a:xfrm>
        </p:spPr>
        <p:txBody>
          <a:bodyPr>
            <a:normAutofit/>
          </a:bodyPr>
          <a:lstStyle/>
          <a:p>
            <a:r>
              <a:rPr lang="en-US" dirty="0"/>
              <a:t>Immediate Response</a:t>
            </a:r>
          </a:p>
        </p:txBody>
      </p:sp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C8DFE299-79EE-551B-0064-654665BC5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383" y="3210560"/>
            <a:ext cx="2959568" cy="29595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ADC89C-EB4E-4AA5-ABBD-448BEC5F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25511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C98FC-CF3C-3C20-F096-A5D1043BD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418" y="555712"/>
            <a:ext cx="5916168" cy="5614416"/>
          </a:xfrm>
        </p:spPr>
        <p:txBody>
          <a:bodyPr>
            <a:normAutofit/>
          </a:bodyPr>
          <a:lstStyle/>
          <a:p>
            <a:r>
              <a:rPr lang="en-US" b="1" dirty="0"/>
              <a:t>Actions Taken: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Engagement with cybersecurity firms like CrowdStrike and Microsoft for incident response.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Notification to UK authorities, including the National Cyber Security Centre.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Efforts to restore online services and communicate with affected customers.​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778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540668-7AE1-5FE9-8F56-345E13C7A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5712"/>
            <a:ext cx="4218435" cy="2390687"/>
          </a:xfrm>
        </p:spPr>
        <p:txBody>
          <a:bodyPr>
            <a:normAutofit/>
          </a:bodyPr>
          <a:lstStyle/>
          <a:p>
            <a:r>
              <a:rPr lang="en-US" dirty="0"/>
              <a:t>Lessons Learned</a:t>
            </a: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50FC7D63-5D90-7702-D6A0-45E77E79B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383" y="3210560"/>
            <a:ext cx="2959568" cy="29595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ADC89C-EB4E-4AA5-ABBD-448BEC5F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25511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7D257-EBBF-293A-8803-0000DAAC7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418" y="555712"/>
            <a:ext cx="5916168" cy="5614416"/>
          </a:xfrm>
        </p:spPr>
        <p:txBody>
          <a:bodyPr>
            <a:normAutofit/>
          </a:bodyPr>
          <a:lstStyle/>
          <a:p>
            <a:r>
              <a:rPr lang="en-US" b="1" dirty="0"/>
              <a:t>Key Takeaways: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Importance of securing third-party vendor access.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Need for regular security audits and vulnerability assessments.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Significance of having an incident response plan in place.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Awareness of sophisticated social engineering tactics used by attackers.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65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D017B0-899F-3338-CC0F-E86A4DDE5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5712"/>
            <a:ext cx="4218435" cy="2390687"/>
          </a:xfrm>
        </p:spPr>
        <p:txBody>
          <a:bodyPr>
            <a:normAutofit/>
          </a:bodyPr>
          <a:lstStyle/>
          <a:p>
            <a:r>
              <a:rPr lang="en-US" dirty="0"/>
              <a:t>Website Security Best Practices</a:t>
            </a:r>
          </a:p>
        </p:txBody>
      </p:sp>
      <p:pic>
        <p:nvPicPr>
          <p:cNvPr id="7" name="Graphic 6" descr="Key">
            <a:extLst>
              <a:ext uri="{FF2B5EF4-FFF2-40B4-BE49-F238E27FC236}">
                <a16:creationId xmlns:a16="http://schemas.microsoft.com/office/drawing/2014/main" id="{8D079F55-0D4B-3790-650D-BF6637CF3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383" y="3210560"/>
            <a:ext cx="2959568" cy="29595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ADC89C-EB4E-4AA5-ABBD-448BEC5F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25511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60070-7433-2566-57A7-D558AAD3F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418" y="555712"/>
            <a:ext cx="5916168" cy="5614416"/>
          </a:xfrm>
        </p:spPr>
        <p:txBody>
          <a:bodyPr>
            <a:normAutofit/>
          </a:bodyPr>
          <a:lstStyle/>
          <a:p>
            <a:r>
              <a:rPr lang="en-US" b="1" dirty="0"/>
              <a:t>Preventative Measures: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SSL certificates to encrypt data transmission.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multi-factor authentication (MFA) for user and administrative access.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Regularly update and patch all software and plugins.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Conduct periodic security training for employees.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Deploy Web Application Firewalls (WAF) to monitor and filter traffic.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59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8C14BA-87AC-4453-0C51-F73E7CE31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/>
              <a:t>Developing a Security Framework</a:t>
            </a:r>
            <a:br>
              <a:rPr lang="en-US" sz="2800" b="1"/>
            </a:br>
            <a:endParaRPr lang="en-US" sz="2800"/>
          </a:p>
        </p:txBody>
      </p:sp>
      <p:pic>
        <p:nvPicPr>
          <p:cNvPr id="5" name="Picture 4" descr="Transparent padlock">
            <a:extLst>
              <a:ext uri="{FF2B5EF4-FFF2-40B4-BE49-F238E27FC236}">
                <a16:creationId xmlns:a16="http://schemas.microsoft.com/office/drawing/2014/main" id="{ECE33EB3-6617-9011-BF1B-67ADE64E95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04" r="40657" b="2"/>
          <a:stretch/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CFB1D-5FE3-F752-F998-D1D8CCFBF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r>
              <a:rPr lang="en-US" b="1" dirty="0"/>
              <a:t>Strategic Approach: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Adopt a layered security model to protect against various threat vectors.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Establish clear security policies and procedures.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Engage in continuous monitoring and threat intelligence gathering.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Invest in cybersecurity insurance as a risk mitigation tool.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047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F7F6D-AEE6-0EF5-298C-056ACCDC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4041648" cy="1928741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584D8412-8D05-1D40-A3F9-93470100FC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111" y="3046576"/>
            <a:ext cx="2969276" cy="296927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7FB60-828A-8661-714D-004E713E2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968377"/>
            <a:ext cx="6144768" cy="5010912"/>
          </a:xfrm>
        </p:spPr>
        <p:txBody>
          <a:bodyPr>
            <a:normAutofit/>
          </a:bodyPr>
          <a:lstStyle/>
          <a:p>
            <a:r>
              <a:rPr lang="en-US" b="1" dirty="0"/>
              <a:t>Final Thoughts: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M&amp;S cyberattack underscores the critical need for robust cybersecurity measures.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Proactive strategies and continuous vigilance are essential to protect digital assets.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Organizations must prioritize cybersecurity to safeguard their operations and reputation.​</a:t>
            </a:r>
          </a:p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88804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416</Words>
  <Application>Microsoft Macintosh PowerPoint</Application>
  <PresentationFormat>Widescreen</PresentationFormat>
  <Paragraphs>55</Paragraphs>
  <Slides>10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ACADEMY ENGRAVED LET PLAIN:1.0</vt:lpstr>
      <vt:lpstr>Aptos</vt:lpstr>
      <vt:lpstr>Arial</vt:lpstr>
      <vt:lpstr>Calisto MT</vt:lpstr>
      <vt:lpstr>Univers Condensed</vt:lpstr>
      <vt:lpstr>ChronicleVTI</vt:lpstr>
      <vt:lpstr>M&amp;S Cyberattack &amp; Website Security Strategies</vt:lpstr>
      <vt:lpstr>Introduction</vt:lpstr>
      <vt:lpstr>Incident Overview</vt:lpstr>
      <vt:lpstr>Attack Methodology</vt:lpstr>
      <vt:lpstr>Impact Assessment</vt:lpstr>
      <vt:lpstr>Immediate Response</vt:lpstr>
      <vt:lpstr>Lessons Learned</vt:lpstr>
      <vt:lpstr>Website Security Best Practices</vt:lpstr>
      <vt:lpstr>Developing a Security Framework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DHIYA N. KASSIM</dc:creator>
  <cp:lastModifiedBy>DHIYA N. KASSIM</cp:lastModifiedBy>
  <cp:revision>1</cp:revision>
  <dcterms:created xsi:type="dcterms:W3CDTF">2025-04-30T00:12:58Z</dcterms:created>
  <dcterms:modified xsi:type="dcterms:W3CDTF">2025-04-30T00:24:11Z</dcterms:modified>
</cp:coreProperties>
</file>